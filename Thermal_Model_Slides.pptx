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RT Cool-down Curve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 T_center (°C)</c:v>
                </c:pt>
              </c:strCache>
            </c:strRef>
          </c:tx>
          <c:spPr>
            <a:solidFill>
              <a:srgbClr val="1B2A4A"/>
            </a:solidFill>
            <a:ln w="25400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</c:v>
                  </c:pt>
                  <c:pt idx="1">
                    <c:v>0.08</c:v>
                  </c:pt>
                  <c:pt idx="2">
                    <c:v>0.16</c:v>
                  </c:pt>
                  <c:pt idx="3">
                    <c:v>0.25</c:v>
                  </c:pt>
                  <c:pt idx="4">
                    <c:v>0.33</c:v>
                  </c:pt>
                  <c:pt idx="5">
                    <c:v>0.42</c:v>
                  </c:pt>
                  <c:pt idx="6">
                    <c:v>0.5</c:v>
                  </c:pt>
                  <c:pt idx="7">
                    <c:v>0.58</c:v>
                  </c:pt>
                  <c:pt idx="8">
                    <c:v>0.67</c:v>
                  </c:pt>
                  <c:pt idx="9">
                    <c:v>0.75</c:v>
                  </c:pt>
                  <c:pt idx="10">
                    <c:v>0.83</c:v>
                  </c:pt>
                  <c:pt idx="11">
                    <c:v>0.92</c:v>
                  </c:pt>
                  <c:pt idx="12">
                    <c:v>1</c:v>
                  </c:pt>
                  <c:pt idx="13">
                    <c:v>1.08</c:v>
                  </c:pt>
                  <c:pt idx="14">
                    <c:v>1.17</c:v>
                  </c:pt>
                  <c:pt idx="15">
                    <c:v>1.25</c:v>
                  </c:pt>
                  <c:pt idx="16">
                    <c:v>1.33</c:v>
                  </c:pt>
                  <c:pt idx="17">
                    <c:v>1.42</c:v>
                  </c:pt>
                  <c:pt idx="18">
                    <c:v>1.5</c:v>
                  </c:pt>
                  <c:pt idx="19">
                    <c:v>1.58</c:v>
                  </c:pt>
                  <c:pt idx="20">
                    <c:v>1.67</c:v>
                  </c:pt>
                  <c:pt idx="21">
                    <c:v>1.75</c:v>
                  </c:pt>
                  <c:pt idx="22">
                    <c:v>1.83</c:v>
                  </c:pt>
                  <c:pt idx="23">
                    <c:v>1.92</c:v>
                  </c:pt>
                  <c:pt idx="24">
                    <c:v>2</c:v>
                  </c:pt>
                  <c:pt idx="25">
                    <c:v>2.17</c:v>
                  </c:pt>
                  <c:pt idx="26">
                    <c:v>2.33</c:v>
                  </c:pt>
                  <c:pt idx="27">
                    <c:v>2.5</c:v>
                  </c:pt>
                  <c:pt idx="28">
                    <c:v>2.67</c:v>
                  </c:pt>
                  <c:pt idx="29">
                    <c:v>2.83</c:v>
                  </c:pt>
                  <c:pt idx="30">
                    <c:v>3</c:v>
                  </c:pt>
                  <c:pt idx="31">
                    <c:v>3.25</c:v>
                  </c:pt>
                  <c:pt idx="32">
                    <c:v>3.5</c:v>
                  </c:pt>
                  <c:pt idx="33">
                    <c:v>3.75</c:v>
                  </c:pt>
                  <c:pt idx="34">
                    <c:v>4</c:v>
                  </c:pt>
                  <c:pt idx="35">
                    <c:v>4.5</c:v>
                  </c:pt>
                  <c:pt idx="36">
                    <c:v>5</c:v>
                  </c:pt>
                  <c:pt idx="37">
                    <c:v>5.5</c:v>
                  </c:pt>
                  <c:pt idx="38">
                    <c:v>6</c:v>
                  </c:pt>
                  <c:pt idx="39">
                    <c:v>6.5</c:v>
                  </c:pt>
                  <c:pt idx="40">
                    <c:v>7</c:v>
                  </c:pt>
                  <c:pt idx="41">
                    <c:v>7.5</c:v>
                  </c:pt>
                  <c:pt idx="42">
                    <c:v>8</c:v>
                  </c:pt>
                  <c:pt idx="43">
                    <c:v>8.5</c:v>
                  </c:pt>
                  <c:pt idx="44">
                    <c:v>9</c:v>
                  </c:pt>
                  <c:pt idx="45">
                    <c:v>9.5</c:v>
                  </c:pt>
                  <c:pt idx="46">
                    <c:v>10</c:v>
                  </c:pt>
                  <c:pt idx="47">
                    <c:v>10.5</c:v>
                  </c:pt>
                  <c:pt idx="48">
                    <c:v>11</c:v>
                  </c:pt>
                  <c:pt idx="49">
                    <c:v>11.5</c:v>
                  </c:pt>
                  <c:pt idx="50">
                    <c:v>12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30.87</c:v>
                </c:pt>
                <c:pt idx="1">
                  <c:v>30.86</c:v>
                </c:pt>
                <c:pt idx="2">
                  <c:v>30.8</c:v>
                </c:pt>
                <c:pt idx="3">
                  <c:v>30.74</c:v>
                </c:pt>
                <c:pt idx="4">
                  <c:v>30.67</c:v>
                </c:pt>
                <c:pt idx="5">
                  <c:v>30.58</c:v>
                </c:pt>
                <c:pt idx="6">
                  <c:v>30.58</c:v>
                </c:pt>
                <c:pt idx="7">
                  <c:v>30.54</c:v>
                </c:pt>
                <c:pt idx="8">
                  <c:v>30.48</c:v>
                </c:pt>
                <c:pt idx="9">
                  <c:v>30.36</c:v>
                </c:pt>
                <c:pt idx="10">
                  <c:v>30.28</c:v>
                </c:pt>
                <c:pt idx="11">
                  <c:v>30.23</c:v>
                </c:pt>
                <c:pt idx="12">
                  <c:v>30.12</c:v>
                </c:pt>
                <c:pt idx="13">
                  <c:v>30.04</c:v>
                </c:pt>
                <c:pt idx="14">
                  <c:v>29.95</c:v>
                </c:pt>
                <c:pt idx="15">
                  <c:v>29.86</c:v>
                </c:pt>
                <c:pt idx="16">
                  <c:v>29.8</c:v>
                </c:pt>
                <c:pt idx="17">
                  <c:v>29.64</c:v>
                </c:pt>
                <c:pt idx="18">
                  <c:v>29.62</c:v>
                </c:pt>
                <c:pt idx="19">
                  <c:v>29.55</c:v>
                </c:pt>
                <c:pt idx="20">
                  <c:v>29.27</c:v>
                </c:pt>
                <c:pt idx="21">
                  <c:v>29.14</c:v>
                </c:pt>
                <c:pt idx="22">
                  <c:v>28.99</c:v>
                </c:pt>
                <c:pt idx="23">
                  <c:v>28.91</c:v>
                </c:pt>
                <c:pt idx="24">
                  <c:v>28.83</c:v>
                </c:pt>
                <c:pt idx="25">
                  <c:v>28.64</c:v>
                </c:pt>
                <c:pt idx="26">
                  <c:v>28.41</c:v>
                </c:pt>
                <c:pt idx="27">
                  <c:v>28.28</c:v>
                </c:pt>
                <c:pt idx="28">
                  <c:v>27.98</c:v>
                </c:pt>
                <c:pt idx="29">
                  <c:v>27.87</c:v>
                </c:pt>
                <c:pt idx="30">
                  <c:v>27.82</c:v>
                </c:pt>
                <c:pt idx="31">
                  <c:v>27.71</c:v>
                </c:pt>
                <c:pt idx="32">
                  <c:v>27.57</c:v>
                </c:pt>
                <c:pt idx="33">
                  <c:v>27.58</c:v>
                </c:pt>
                <c:pt idx="34">
                  <c:v>27.52</c:v>
                </c:pt>
                <c:pt idx="35">
                  <c:v>27.12</c:v>
                </c:pt>
                <c:pt idx="36">
                  <c:v>26.96</c:v>
                </c:pt>
                <c:pt idx="37">
                  <c:v>26.5</c:v>
                </c:pt>
                <c:pt idx="38">
                  <c:v>26.56</c:v>
                </c:pt>
                <c:pt idx="39">
                  <c:v>26.57</c:v>
                </c:pt>
                <c:pt idx="40">
                  <c:v>26.62</c:v>
                </c:pt>
                <c:pt idx="41">
                  <c:v>26.22</c:v>
                </c:pt>
                <c:pt idx="42">
                  <c:v>26.08</c:v>
                </c:pt>
                <c:pt idx="43">
                  <c:v>25.97</c:v>
                </c:pt>
                <c:pt idx="44">
                  <c:v>25.94</c:v>
                </c:pt>
                <c:pt idx="45">
                  <c:v>25.91</c:v>
                </c:pt>
                <c:pt idx="46">
                  <c:v>25.72</c:v>
                </c:pt>
                <c:pt idx="47">
                  <c:v>25.63</c:v>
                </c:pt>
                <c:pt idx="48">
                  <c:v>25.66</c:v>
                </c:pt>
                <c:pt idx="49">
                  <c:v>25.5</c:v>
                </c:pt>
                <c:pt idx="50">
                  <c:v>25.72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Exponential fit</c:v>
                </c:pt>
              </c:strCache>
            </c:strRef>
          </c:tx>
          <c:spPr>
            <a:solidFill>
              <a:srgbClr val="14A8A8"/>
            </a:solidFill>
            <a:ln w="25400" cap="flat">
              <a:solidFill>
                <a:srgbClr val="14A8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A8A8"/>
              </a:solidFill>
              <a:ln w="9525" cap="flat">
                <a:solidFill>
                  <a:srgbClr val="14A8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</c:v>
                  </c:pt>
                  <c:pt idx="1">
                    <c:v>0.08</c:v>
                  </c:pt>
                  <c:pt idx="2">
                    <c:v>0.16</c:v>
                  </c:pt>
                  <c:pt idx="3">
                    <c:v>0.25</c:v>
                  </c:pt>
                  <c:pt idx="4">
                    <c:v>0.33</c:v>
                  </c:pt>
                  <c:pt idx="5">
                    <c:v>0.42</c:v>
                  </c:pt>
                  <c:pt idx="6">
                    <c:v>0.5</c:v>
                  </c:pt>
                  <c:pt idx="7">
                    <c:v>0.58</c:v>
                  </c:pt>
                  <c:pt idx="8">
                    <c:v>0.67</c:v>
                  </c:pt>
                  <c:pt idx="9">
                    <c:v>0.75</c:v>
                  </c:pt>
                  <c:pt idx="10">
                    <c:v>0.83</c:v>
                  </c:pt>
                  <c:pt idx="11">
                    <c:v>0.92</c:v>
                  </c:pt>
                  <c:pt idx="12">
                    <c:v>1</c:v>
                  </c:pt>
                  <c:pt idx="13">
                    <c:v>1.08</c:v>
                  </c:pt>
                  <c:pt idx="14">
                    <c:v>1.17</c:v>
                  </c:pt>
                  <c:pt idx="15">
                    <c:v>1.25</c:v>
                  </c:pt>
                  <c:pt idx="16">
                    <c:v>1.33</c:v>
                  </c:pt>
                  <c:pt idx="17">
                    <c:v>1.42</c:v>
                  </c:pt>
                  <c:pt idx="18">
                    <c:v>1.5</c:v>
                  </c:pt>
                  <c:pt idx="19">
                    <c:v>1.58</c:v>
                  </c:pt>
                  <c:pt idx="20">
                    <c:v>1.67</c:v>
                  </c:pt>
                  <c:pt idx="21">
                    <c:v>1.75</c:v>
                  </c:pt>
                  <c:pt idx="22">
                    <c:v>1.83</c:v>
                  </c:pt>
                  <c:pt idx="23">
                    <c:v>1.92</c:v>
                  </c:pt>
                  <c:pt idx="24">
                    <c:v>2</c:v>
                  </c:pt>
                  <c:pt idx="25">
                    <c:v>2.17</c:v>
                  </c:pt>
                  <c:pt idx="26">
                    <c:v>2.33</c:v>
                  </c:pt>
                  <c:pt idx="27">
                    <c:v>2.5</c:v>
                  </c:pt>
                  <c:pt idx="28">
                    <c:v>2.67</c:v>
                  </c:pt>
                  <c:pt idx="29">
                    <c:v>2.83</c:v>
                  </c:pt>
                  <c:pt idx="30">
                    <c:v>3</c:v>
                  </c:pt>
                  <c:pt idx="31">
                    <c:v>3.25</c:v>
                  </c:pt>
                  <c:pt idx="32">
                    <c:v>3.5</c:v>
                  </c:pt>
                  <c:pt idx="33">
                    <c:v>3.75</c:v>
                  </c:pt>
                  <c:pt idx="34">
                    <c:v>4</c:v>
                  </c:pt>
                  <c:pt idx="35">
                    <c:v>4.5</c:v>
                  </c:pt>
                  <c:pt idx="36">
                    <c:v>5</c:v>
                  </c:pt>
                  <c:pt idx="37">
                    <c:v>5.5</c:v>
                  </c:pt>
                  <c:pt idx="38">
                    <c:v>6</c:v>
                  </c:pt>
                  <c:pt idx="39">
                    <c:v>6.5</c:v>
                  </c:pt>
                  <c:pt idx="40">
                    <c:v>7</c:v>
                  </c:pt>
                  <c:pt idx="41">
                    <c:v>7.5</c:v>
                  </c:pt>
                  <c:pt idx="42">
                    <c:v>8</c:v>
                  </c:pt>
                  <c:pt idx="43">
                    <c:v>8.5</c:v>
                  </c:pt>
                  <c:pt idx="44">
                    <c:v>9</c:v>
                  </c:pt>
                  <c:pt idx="45">
                    <c:v>9.5</c:v>
                  </c:pt>
                  <c:pt idx="46">
                    <c:v>10</c:v>
                  </c:pt>
                  <c:pt idx="47">
                    <c:v>10.5</c:v>
                  </c:pt>
                  <c:pt idx="48">
                    <c:v>11</c:v>
                  </c:pt>
                  <c:pt idx="49">
                    <c:v>11.5</c:v>
                  </c:pt>
                  <c:pt idx="50">
                    <c:v>12</c:v>
                  </c:pt>
                </c:lvl>
              </c:multiLvlStrCache>
            </c:multiLvlStrRef>
          </c:cat>
          <c:val>
            <c:numRef>
              <c:f>Sheet1!$C$2:$C$52</c:f>
              <c:numCache>
                <c:formatCode>General</c:formatCode>
                <c:ptCount val="51"/>
                <c:pt idx="0">
                  <c:v>30.87</c:v>
                </c:pt>
                <c:pt idx="1">
                  <c:v>30.814</c:v>
                </c:pt>
                <c:pt idx="2">
                  <c:v>30.759</c:v>
                </c:pt>
                <c:pt idx="3">
                  <c:v>30.697</c:v>
                </c:pt>
                <c:pt idx="4">
                  <c:v>30.643</c:v>
                </c:pt>
                <c:pt idx="5">
                  <c:v>30.582</c:v>
                </c:pt>
                <c:pt idx="6">
                  <c:v>30.528</c:v>
                </c:pt>
                <c:pt idx="7">
                  <c:v>30.475</c:v>
                </c:pt>
                <c:pt idx="8">
                  <c:v>30.416</c:v>
                </c:pt>
                <c:pt idx="9">
                  <c:v>30.363</c:v>
                </c:pt>
                <c:pt idx="10">
                  <c:v>30.311</c:v>
                </c:pt>
                <c:pt idx="11">
                  <c:v>30.253</c:v>
                </c:pt>
                <c:pt idx="12">
                  <c:v>30.201</c:v>
                </c:pt>
                <c:pt idx="13">
                  <c:v>30.151</c:v>
                </c:pt>
                <c:pt idx="14">
                  <c:v>30.094</c:v>
                </c:pt>
                <c:pt idx="15">
                  <c:v>30.043</c:v>
                </c:pt>
                <c:pt idx="16">
                  <c:v>29.994</c:v>
                </c:pt>
                <c:pt idx="17">
                  <c:v>29.938</c:v>
                </c:pt>
                <c:pt idx="18">
                  <c:v>29.889</c:v>
                </c:pt>
                <c:pt idx="19">
                  <c:v>29.84</c:v>
                </c:pt>
                <c:pt idx="20">
                  <c:v>29.786</c:v>
                </c:pt>
                <c:pt idx="21">
                  <c:v>29.738</c:v>
                </c:pt>
                <c:pt idx="22">
                  <c:v>29.69</c:v>
                </c:pt>
                <c:pt idx="23">
                  <c:v>29.637</c:v>
                </c:pt>
                <c:pt idx="24">
                  <c:v>29.59</c:v>
                </c:pt>
                <c:pt idx="25">
                  <c:v>29.491</c:v>
                </c:pt>
                <c:pt idx="26">
                  <c:v>29.4</c:v>
                </c:pt>
                <c:pt idx="27">
                  <c:v>29.304</c:v>
                </c:pt>
                <c:pt idx="28">
                  <c:v>29.209</c:v>
                </c:pt>
                <c:pt idx="29">
                  <c:v>29.122</c:v>
                </c:pt>
                <c:pt idx="30">
                  <c:v>29.03</c:v>
                </c:pt>
                <c:pt idx="31">
                  <c:v>28.898</c:v>
                </c:pt>
                <c:pt idx="32">
                  <c:v>28.768</c:v>
                </c:pt>
                <c:pt idx="33">
                  <c:v>28.642</c:v>
                </c:pt>
                <c:pt idx="34">
                  <c:v>28.518</c:v>
                </c:pt>
                <c:pt idx="35">
                  <c:v>28.278</c:v>
                </c:pt>
                <c:pt idx="36">
                  <c:v>28.049</c:v>
                </c:pt>
                <c:pt idx="37">
                  <c:v>27.83</c:v>
                </c:pt>
                <c:pt idx="38">
                  <c:v>27.62</c:v>
                </c:pt>
                <c:pt idx="39">
                  <c:v>27.42</c:v>
                </c:pt>
                <c:pt idx="40">
                  <c:v>27.228</c:v>
                </c:pt>
                <c:pt idx="41">
                  <c:v>27.044</c:v>
                </c:pt>
                <c:pt idx="42">
                  <c:v>26.869</c:v>
                </c:pt>
                <c:pt idx="43">
                  <c:v>26.701</c:v>
                </c:pt>
                <c:pt idx="44">
                  <c:v>26.54</c:v>
                </c:pt>
                <c:pt idx="45">
                  <c:v>26.386</c:v>
                </c:pt>
                <c:pt idx="46">
                  <c:v>26.239</c:v>
                </c:pt>
                <c:pt idx="47">
                  <c:v>26.099</c:v>
                </c:pt>
                <c:pt idx="48">
                  <c:v>25.964</c:v>
                </c:pt>
                <c:pt idx="49">
                  <c:v>25.835</c:v>
                </c:pt>
                <c:pt idx="50">
                  <c:v>25.712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Time after peak (h)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23"/>
        </c:scaling>
        <c:delete val="0"/>
        <c:axPos val="l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T_center (°C)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R0 vs SOC — Both Conditions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 (23°C)</c:v>
                </c:pt>
              </c:strCache>
            </c:strRef>
          </c:tx>
          <c:spPr>
            <a:solidFill>
              <a:srgbClr val="1B2A4A"/>
            </a:solidFill>
            <a:ln w="25400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100</c:v>
                  </c:pt>
                  <c:pt idx="1">
                    <c:v>90</c:v>
                  </c:pt>
                  <c:pt idx="2">
                    <c:v>80</c:v>
                  </c:pt>
                  <c:pt idx="3">
                    <c:v>70</c:v>
                  </c:pt>
                  <c:pt idx="4">
                    <c:v>60</c:v>
                  </c:pt>
                  <c:pt idx="5">
                    <c:v>50</c:v>
                  </c:pt>
                  <c:pt idx="6">
                    <c:v>40</c:v>
                  </c:pt>
                  <c:pt idx="7">
                    <c:v>30</c:v>
                  </c:pt>
                  <c:pt idx="8">
                    <c:v>20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2.75</c:v>
                </c:pt>
                <c:pt idx="1">
                  <c:v>3.27</c:v>
                </c:pt>
                <c:pt idx="2">
                  <c:v>2.31</c:v>
                </c:pt>
                <c:pt idx="3">
                  <c:v>2.05</c:v>
                </c:pt>
                <c:pt idx="4">
                  <c:v>1.25</c:v>
                </c:pt>
                <c:pt idx="5">
                  <c:v>1.24</c:v>
                </c:pt>
                <c:pt idx="6">
                  <c:v>2.95</c:v>
                </c:pt>
                <c:pt idx="7">
                  <c:v>2.05</c:v>
                </c:pt>
                <c:pt idx="8">
                  <c:v>2.35</c:v>
                </c:pt>
                <c:pt idx="9">
                  <c:v>2.87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40°C</c:v>
                </c:pt>
              </c:strCache>
            </c:strRef>
          </c:tx>
          <c:spPr>
            <a:solidFill>
              <a:srgbClr val="14A8A8"/>
            </a:solidFill>
            <a:ln w="25400" cap="flat">
              <a:solidFill>
                <a:srgbClr val="14A8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A8A8"/>
              </a:solidFill>
              <a:ln w="9525" cap="flat">
                <a:solidFill>
                  <a:srgbClr val="14A8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100</c:v>
                  </c:pt>
                  <c:pt idx="1">
                    <c:v>90</c:v>
                  </c:pt>
                  <c:pt idx="2">
                    <c:v>80</c:v>
                  </c:pt>
                  <c:pt idx="3">
                    <c:v>70</c:v>
                  </c:pt>
                  <c:pt idx="4">
                    <c:v>60</c:v>
                  </c:pt>
                  <c:pt idx="5">
                    <c:v>50</c:v>
                  </c:pt>
                  <c:pt idx="6">
                    <c:v>40</c:v>
                  </c:pt>
                  <c:pt idx="7">
                    <c:v>30</c:v>
                  </c:pt>
                  <c:pt idx="8">
                    <c:v>20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3.15</c:v>
                </c:pt>
                <c:pt idx="1">
                  <c:v>2.7</c:v>
                </c:pt>
                <c:pt idx="2">
                  <c:v>2.4</c:v>
                </c:pt>
                <c:pt idx="3">
                  <c:v>2.37</c:v>
                </c:pt>
                <c:pt idx="4">
                  <c:v>2.08</c:v>
                </c:pt>
                <c:pt idx="5">
                  <c:v>2.42</c:v>
                </c:pt>
                <c:pt idx="6">
                  <c:v>2</c:v>
                </c:pt>
                <c:pt idx="7">
                  <c:v>1.28</c:v>
                </c:pt>
                <c:pt idx="8">
                  <c:v>1.23</c:v>
                </c:pt>
                <c:pt idx="9">
                  <c:v>2.94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SOC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8"/>
          <c:min val="0.8"/>
        </c:scaling>
        <c:delete val="0"/>
        <c:axPos val="l"/>
        <c:majorGridlines>
          <c:spPr>
            <a:ln w="6350" cap="flat">
              <a:solidFill>
                <a:srgbClr val="E0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R0 (mΩ)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THERMAL MODELLING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Predictive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Model for Zn-MnO₂ Cells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and validate a model that predicts cell temperature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charge/discharge — using only directly measured parameters.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320040"/>
            <a:ext cx="2834640" cy="4434840"/>
          </a:xfrm>
          <a:prstGeom prst="rect">
            <a:avLst/>
          </a:prstGeom>
          <a:solidFill>
            <a:srgbClr val="16233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0" y="502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gives you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005840"/>
            <a:ext cx="2560320" cy="713232"/>
          </a:xfrm>
          <a:prstGeom prst="rect">
            <a:avLst/>
          </a:prstGeom>
          <a:solidFill>
            <a:srgbClr val="1E3452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051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T(t)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298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over time during any duty cycle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2560320" cy="713232"/>
          </a:xfrm>
          <a:prstGeom prst="rect">
            <a:avLst/>
          </a:prstGeom>
          <a:solidFill>
            <a:srgbClr val="1E3452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safely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cell stays within thermal limits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2651760"/>
            <a:ext cx="2560320" cy="713232"/>
          </a:xfrm>
          <a:prstGeom prst="rect">
            <a:avLst/>
          </a:prstGeom>
          <a:solidFill>
            <a:srgbClr val="1E3452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cooling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optimal enclosure &amp; airflow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3474720"/>
            <a:ext cx="2560320" cy="713232"/>
          </a:xfrm>
          <a:prstGeom prst="rect">
            <a:avLst/>
          </a:prstGeom>
          <a:solidFill>
            <a:srgbClr val="1E3452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accurately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767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R0 growth to predict end-of-life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5303520" cy="502920"/>
          </a:xfrm>
          <a:prstGeom prst="rect">
            <a:avLst/>
          </a:prstGeom>
          <a:solidFill>
            <a:srgbClr val="162338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m·c_p · dT/dt  =  I²·R0  −  h·A·(T − T_amb)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equation: lumped thermal model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Update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777240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sequential tests — three parameters measured directly from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051560"/>
            <a:ext cx="2011680" cy="3291840"/>
          </a:xfrm>
          <a:prstGeom prst="rect">
            <a:avLst/>
          </a:prstGeom>
          <a:solidFill>
            <a:srgbClr val="D6F0E4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" y="1115568"/>
            <a:ext cx="384048" cy="38404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h_conv Measurement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2336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A pulse → OCV cool-down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2816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29992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T(t) = T∞ + ΔT·e^(−t/τ)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" y="4005072"/>
            <a:ext cx="1737360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4005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✓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59736" y="1051560"/>
            <a:ext cx="2011680" cy="3291840"/>
          </a:xfrm>
          <a:prstGeom prst="rect">
            <a:avLst/>
          </a:prstGeom>
          <a:solidFill>
            <a:srgbClr val="D6F0E4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23744" y="1115568"/>
            <a:ext cx="384048" cy="38404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32888" y="1572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Measurement (GITT)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69464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9464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 / 10 s pulses, 100% → 10% SOC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69464" y="2816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9464" y="29992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= |ΔV| / I at each SOC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9464" y="4005072"/>
            <a:ext cx="1737360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9464" y="4005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26864" y="1051560"/>
            <a:ext cx="2011680" cy="3291840"/>
          </a:xfrm>
          <a:prstGeom prst="rect">
            <a:avLst/>
          </a:prstGeom>
          <a:solidFill>
            <a:srgbClr val="FFF5E0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1115568"/>
            <a:ext cx="38404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00016" y="1572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Cycling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36592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36592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 &amp; 30 A, 30 min pulses, 200 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2816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36592" y="29992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model + ageing rate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36592" y="4005072"/>
            <a:ext cx="173736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4005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⟶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93992" y="1051560"/>
            <a:ext cx="2011680" cy="3291840"/>
          </a:xfrm>
          <a:prstGeom prst="rect">
            <a:avLst/>
          </a:prstGeom>
          <a:solidFill>
            <a:srgbClr val="EEF2F5"/>
          </a:solidFill>
          <a:ln w="190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0" y="1115568"/>
            <a:ext cx="384048" cy="384048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67144" y="1572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Test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903720" y="2148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03720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current level on fresh cell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03720" y="2816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03720" y="29992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prediction vs. measurement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03720" y="4005072"/>
            <a:ext cx="1737360" cy="25603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4005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92608" y="4462272"/>
            <a:ext cx="8558784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  h_conv — measured from Test 1   |   R0 — measured from Test 2   |   k_radial — from datasheet   |   Ageing rate — verified in Test 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777240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1: Convection Coefficient (h_conv)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A pulse → full OCV cool-down  |  Fitted: T(t) = T∞ + ΔT₀ · exp(−t/τ)  |  h = m·c_p / (τ·A)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00584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1078992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02336" y="153619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W/m²·K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171907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h_conv  RT (23°C)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" y="214884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2221992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02336" y="267919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W/m²·K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286207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h_conv  40°C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" y="329184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" y="3364992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676 min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02336" y="400507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time constant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23160" y="1005840"/>
            <a:ext cx="25603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42032" y="1051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Parameters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12984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3 kg  (jelly roll mass)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42032" y="14813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c_p = 1400 J/kg·K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42032" y="16642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0.0709 m²  (outer surface)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23160" y="1965960"/>
            <a:ext cx="2560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42032" y="2011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Quality  (R²)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2032" y="22677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RT:   0.931  ← good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42032" y="24505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40°C: 0.839  (ΔT only 1°C)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2834640"/>
            <a:ext cx="2560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42032" y="28895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42032" y="314553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Q_gen = 0 during OCV rest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42032" y="34015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ln(T − T∞) vs time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42032" y="3657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−1/τ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42032" y="39136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m·c_p / (τ · A)</a:t>
            </a:r>
            <a:endParaRPr lang="en-US" sz="10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5166360" y="960120"/>
          <a:ext cx="37033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5166360" y="4005072"/>
            <a:ext cx="3703320" cy="822960"/>
          </a:xfrm>
          <a:prstGeom prst="rect">
            <a:avLst/>
          </a:prstGeom>
          <a:solidFill>
            <a:srgbClr val="FFF8E6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57800" y="404164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40°C note: ΔT above ambient was only 1°C, giving a noisier fit (R² = 0.84). Consider repeating with a larger heating pulse to improve confidence in the 40°C h_conv value.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777240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2: Internal Resistance R0 — GITT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 × 10 s pulses at 10% SOC steps  |  R0 = |ΔV| / I  |  Mid-SOC average used as model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00584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1078992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 mΩ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02336" y="153619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mid-SOC avg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171907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 RT (23°C)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" y="214884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2221992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 mΩ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02336" y="267919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mid-SOC avg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286207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 40°C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" y="329184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" y="3364992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02336" y="382219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 at higher T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" y="400507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40°C / RT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423160" y="96012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720840" y="960120"/>
            <a:ext cx="212140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1024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12280" y="1298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388352" y="1307592"/>
            <a:ext cx="1371600" cy="173736"/>
          </a:xfrm>
          <a:prstGeom prst="rect">
            <a:avLst/>
          </a:prstGeom>
          <a:solidFill>
            <a:srgbClr val="FCE0D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88352" y="12984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812280" y="14996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388352" y="1508760"/>
            <a:ext cx="1371600" cy="173736"/>
          </a:xfrm>
          <a:prstGeom prst="rect">
            <a:avLst/>
          </a:prstGeom>
          <a:solidFill>
            <a:srgbClr val="FCE0D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88352" y="14996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12280" y="1700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388352" y="1709928"/>
            <a:ext cx="1371600" cy="173736"/>
          </a:xfrm>
          <a:prstGeom prst="rect">
            <a:avLst/>
          </a:prstGeom>
          <a:solidFill>
            <a:srgbClr val="FFF5CC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88352" y="1700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812280" y="1901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388352" y="1911096"/>
            <a:ext cx="1371600" cy="173736"/>
          </a:xfrm>
          <a:prstGeom prst="rect">
            <a:avLst/>
          </a:prstGeom>
          <a:solidFill>
            <a:srgbClr val="FFF5CC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88352" y="1901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812280" y="21031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388352" y="2112264"/>
            <a:ext cx="1371600" cy="173736"/>
          </a:xfrm>
          <a:prstGeom prst="rect">
            <a:avLst/>
          </a:prstGeom>
          <a:solidFill>
            <a:srgbClr val="FCE0D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88352" y="2103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812280" y="23042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388352" y="2313432"/>
            <a:ext cx="1371600" cy="173736"/>
          </a:xfrm>
          <a:prstGeom prst="rect">
            <a:avLst/>
          </a:prstGeom>
          <a:solidFill>
            <a:srgbClr val="D6F0E4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88352" y="2304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812280" y="25054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388352" y="2514600"/>
            <a:ext cx="1371600" cy="173736"/>
          </a:xfrm>
          <a:prstGeom prst="rect">
            <a:avLst/>
          </a:prstGeom>
          <a:solidFill>
            <a:srgbClr val="FCE0D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388352" y="25054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812280" y="27066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388352" y="2715768"/>
            <a:ext cx="1371600" cy="173736"/>
          </a:xfrm>
          <a:prstGeom prst="rect">
            <a:avLst/>
          </a:prstGeom>
          <a:solidFill>
            <a:srgbClr val="FFF5CC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88352" y="27066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812280" y="29077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388352" y="2916936"/>
            <a:ext cx="1371600" cy="173736"/>
          </a:xfrm>
          <a:prstGeom prst="rect">
            <a:avLst/>
          </a:prstGeom>
          <a:solidFill>
            <a:srgbClr val="FCE0D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88352" y="2907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6812280" y="3108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388352" y="3118104"/>
            <a:ext cx="1371600" cy="173736"/>
          </a:xfrm>
          <a:prstGeom prst="rect">
            <a:avLst/>
          </a:prstGeom>
          <a:solidFill>
            <a:srgbClr val="D6F0E4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88352" y="3108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2423160" y="3977640"/>
            <a:ext cx="6419088" cy="868680"/>
          </a:xfrm>
          <a:prstGeom prst="rect">
            <a:avLst/>
          </a:prstGeom>
          <a:solidFill>
            <a:srgbClr val="D6F0E4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542032" y="40233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R0 value: mid-SOC average (20–80% SOC) where response is flat and measurement is most reliable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2542032" y="431596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RT: 2.028 mΩ  (0.002028 Ω)     |     40°C: 1.967 mΩ  (0.001967 Ω)     |     Data quality flags: Good ≤30 s lag · Acceptable ≤120 s · Caution &gt;120 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338"/>
          </a:solidFill>
          <a:ln w="12700">
            <a:solidFill>
              <a:srgbClr val="1623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Cycling — Set Up 22 A &amp; 44 A Tests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92608" y="1097280"/>
            <a:ext cx="2743200" cy="3154680"/>
          </a:xfrm>
          <a:prstGeom prst="rect">
            <a:avLst/>
          </a:prstGeom>
          <a:solidFill>
            <a:srgbClr val="1E3152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70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9768" y="17190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22 A &amp; 44 A cycling tests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9768" y="2286000"/>
            <a:ext cx="2487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protocols onto PEC machines. Run both cells simultaneously in the same temperature-controlled chamber at 25°C to ensure identical ambient for both.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3913632"/>
            <a:ext cx="1371600" cy="256032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743200" cy="3154680"/>
          </a:xfrm>
          <a:prstGeom prst="rect">
            <a:avLst/>
          </a:prstGeom>
          <a:solidFill>
            <a:srgbClr val="1E3152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170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55848" y="17190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Pre-condition &amp; start 200 h loop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55848" y="2286000"/>
            <a:ext cx="2487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each cell to 50% SOC before starting. Confirm voltage cutoffs (1.00 V / 1.85 V) are set as hard channel limits. Start both channels at the same time.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55848" y="3913632"/>
            <a:ext cx="1371600" cy="256032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44768" y="1097280"/>
            <a:ext cx="2743200" cy="3154680"/>
          </a:xfrm>
          <a:prstGeom prst="rect">
            <a:avLst/>
          </a:prstGeom>
          <a:solidFill>
            <a:srgbClr val="1E3152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1704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81928" y="17190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begin model implementation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81928" y="2286000"/>
            <a:ext cx="2487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first 24 h for SOC drift or unexpected cutoff triggers. Begin coding the thermal model in parallel using the h_conv and R0 values already measured.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81928" y="3913632"/>
            <a:ext cx="137160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" y="4315968"/>
            <a:ext cx="8558784" cy="594360"/>
          </a:xfrm>
          <a:prstGeom prst="rect">
            <a:avLst/>
          </a:prstGeom>
          <a:solidFill>
            <a:srgbClr val="162338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89120"/>
            <a:ext cx="201168" cy="201168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3891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h_conv:  1.46 / 2.44 W/m²·K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51760" y="4389120"/>
            <a:ext cx="201168" cy="201168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43891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R0:  2.03 / 1.97 mΩ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4389120"/>
            <a:ext cx="201168" cy="201168"/>
          </a:xfrm>
          <a:prstGeom prst="rect">
            <a:avLst/>
          </a:prstGeom>
          <a:solidFill>
            <a:srgbClr val="14A8A8"/>
          </a:solidFill>
          <a:ln w="12700">
            <a:solidFill>
              <a:srgbClr val="14A8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3891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k_radial:  0.16 W/m·K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49440" y="4389120"/>
            <a:ext cx="201168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43891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rate:  TBC from Test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Thermal Model — Progress Update</dc:title>
  <dc:subject>PptxGenJS Presentation</dc:subject>
  <dc:creator>PptxGenJS</dc:creator>
  <cp:lastModifiedBy>PptxGenJS</cp:lastModifiedBy>
  <cp:revision>1</cp:revision>
  <dcterms:created xsi:type="dcterms:W3CDTF">2026-04-02T18:31:04Z</dcterms:created>
  <dcterms:modified xsi:type="dcterms:W3CDTF">2026-04-02T18:31:04Z</dcterms:modified>
</cp:coreProperties>
</file>